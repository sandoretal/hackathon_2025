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93" r:id="rId3"/>
    <p:sldMasterId id="2147483695" r:id="rId4"/>
    <p:sldMasterId id="2147483713" r:id="rId5"/>
  </p:sldMasterIdLst>
  <p:notesMasterIdLst>
    <p:notesMasterId r:id="rId14"/>
  </p:notesMasterIdLst>
  <p:sldIdLst>
    <p:sldId id="1463" r:id="rId6"/>
    <p:sldId id="1473" r:id="rId7"/>
    <p:sldId id="1476" r:id="rId8"/>
    <p:sldId id="1467" r:id="rId9"/>
    <p:sldId id="1466" r:id="rId10"/>
    <p:sldId id="1477" r:id="rId11"/>
    <p:sldId id="1474" r:id="rId12"/>
    <p:sldId id="14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yne Beccano" initials="DB" lastIdx="25" clrIdx="0">
    <p:extLst>
      <p:ext uri="{19B8F6BF-5375-455C-9EA6-DF929625EA0E}">
        <p15:presenceInfo xmlns:p15="http://schemas.microsoft.com/office/powerpoint/2012/main" userId="80984739a8a55438" providerId="Windows Live"/>
      </p:ext>
    </p:extLst>
  </p:cmAuthor>
  <p:cmAuthor id="2" name="Cynthia Sandor" initials="CS" lastIdx="1" clrIdx="1">
    <p:extLst>
      <p:ext uri="{19B8F6BF-5375-455C-9EA6-DF929625EA0E}">
        <p15:presenceInfo xmlns:p15="http://schemas.microsoft.com/office/powerpoint/2012/main" userId="S::cynthia@humancentricdd.com::088db626-8619-4070-a492-5b4e8b53b24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8BF9"/>
    <a:srgbClr val="00C000"/>
    <a:srgbClr val="CE0338"/>
    <a:srgbClr val="5F047D"/>
    <a:srgbClr val="A0A0A4"/>
    <a:srgbClr val="606060"/>
    <a:srgbClr val="76069A"/>
    <a:srgbClr val="EEC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72" autoAdjust="0"/>
    <p:restoredTop sz="71293" autoAdjust="0"/>
  </p:normalViewPr>
  <p:slideViewPr>
    <p:cSldViewPr snapToGrid="0">
      <p:cViewPr>
        <p:scale>
          <a:sx n="75" d="100"/>
          <a:sy n="75" d="100"/>
        </p:scale>
        <p:origin x="1648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A27577-AD84-4A7F-9490-EF73315A531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4171D-4F91-457E-A7C7-F4961675C1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6A0520-7B70-B24C-A09A-FE3CB9A33B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03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9CB8-3986-2D28-31B0-4C978E5F3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1F9BC-38C4-0E22-63CE-0C00C2422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2664D-C6B2-3657-2566-8F70D9D3E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6422E-236B-5563-F990-1032F2F49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04171D-4F91-457E-A7C7-F4961675C17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2100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4171D-4F91-457E-A7C7-F4961675C17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584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89D6-3209-7EFD-2DD4-CF64ECA6E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5B1EA-1AEE-8AF9-3355-52AAC4489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B22C0-D223-B780-5F6D-956AA82E2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BC478-1D76-1803-AA58-8129ABC15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4171D-4F91-457E-A7C7-F4961675C17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300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4171D-4F91-457E-A7C7-F4961675C17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584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C8D86-8BF9-5948-23FB-74007D9D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46508-547D-7F38-B526-7C40C5381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4DC8E-42CB-30BF-5D6F-570F69916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EEC9A-EED9-8011-40D1-6CC217B6D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4171D-4F91-457E-A7C7-F4961675C17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79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6CA4-D527-2EEF-02DA-18545382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62361-0605-3AE3-7FB5-04B2631A9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A19BF-AE5F-68AF-A715-A2AF6A92F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F3380-CAA9-4F70-D365-13CBD39A7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4171D-4F91-457E-A7C7-F4961675C17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213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241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31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05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68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97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FEBF4D-F2C9-5F09-3A9E-DDF48B84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4647-1E4F-8045-A2C2-E902EA903E78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7A608-1350-53F9-4BAC-CB9914E7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88B74-3200-26D8-01C1-F246562C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7A811-9036-A449-A7A1-EBE2089C5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2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8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54024D-3724-0948-9C10-A4A2FE5DBB4C}"/>
              </a:ext>
            </a:extLst>
          </p:cNvPr>
          <p:cNvSpPr/>
          <p:nvPr userDrawn="1"/>
        </p:nvSpPr>
        <p:spPr>
          <a:xfrm>
            <a:off x="37421" y="37982"/>
            <a:ext cx="12105861" cy="5923722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food, light, drawing&#10;&#10;Description automatically generated">
            <a:extLst>
              <a:ext uri="{FF2B5EF4-FFF2-40B4-BE49-F238E27FC236}">
                <a16:creationId xmlns:a16="http://schemas.microsoft.com/office/drawing/2014/main" id="{D7489010-2C13-2B4F-8FD8-074B06B37B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2785" y="5992761"/>
            <a:ext cx="3600497" cy="835829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D798CDEE-9ECC-7E44-B041-8C9B7CE784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718" y="5899674"/>
            <a:ext cx="3649216" cy="10089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9AC9E56-644E-EF4D-BB98-D2D215FAB60A}"/>
              </a:ext>
            </a:extLst>
          </p:cNvPr>
          <p:cNvCxnSpPr>
            <a:cxnSpLocks/>
          </p:cNvCxnSpPr>
          <p:nvPr userDrawn="1"/>
        </p:nvCxnSpPr>
        <p:spPr>
          <a:xfrm>
            <a:off x="37421" y="5961704"/>
            <a:ext cx="121068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02A5AEE7-ED35-6643-B795-D6102D5F30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15006" y="37982"/>
            <a:ext cx="4628276" cy="6372693"/>
          </a:xfrm>
          <a:prstGeom prst="rect">
            <a:avLst/>
          </a:prstGeom>
        </p:spPr>
      </p:pic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EA3237FF-B866-D04B-80E9-306B7BCB43D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935417" y="6055142"/>
            <a:ext cx="764136" cy="73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2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605B3A3-FD14-6D42-B6BD-6A09BA541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718" y="6249429"/>
            <a:ext cx="2384145" cy="65914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65169E-EF4D-3B43-9564-5B1E83EE6133}"/>
              </a:ext>
            </a:extLst>
          </p:cNvPr>
          <p:cNvCxnSpPr>
            <a:cxnSpLocks/>
          </p:cNvCxnSpPr>
          <p:nvPr userDrawn="1"/>
        </p:nvCxnSpPr>
        <p:spPr>
          <a:xfrm>
            <a:off x="4575" y="901785"/>
            <a:ext cx="12204000" cy="0"/>
          </a:xfrm>
          <a:prstGeom prst="line">
            <a:avLst/>
          </a:prstGeom>
          <a:ln w="28575">
            <a:solidFill>
              <a:srgbClr val="0AC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57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54024D-3724-0948-9C10-A4A2FE5DBB4C}"/>
              </a:ext>
            </a:extLst>
          </p:cNvPr>
          <p:cNvSpPr/>
          <p:nvPr userDrawn="1"/>
        </p:nvSpPr>
        <p:spPr>
          <a:xfrm>
            <a:off x="37421" y="37982"/>
            <a:ext cx="12105861" cy="5923722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89010-2C13-2B4F-8FD8-074B06B37B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42785" y="6048408"/>
            <a:ext cx="3600497" cy="724535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D798CDEE-9ECC-7E44-B041-8C9B7CE784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718" y="5899674"/>
            <a:ext cx="3649216" cy="10089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9AC9E56-644E-EF4D-BB98-D2D215FAB60A}"/>
              </a:ext>
            </a:extLst>
          </p:cNvPr>
          <p:cNvCxnSpPr>
            <a:cxnSpLocks/>
          </p:cNvCxnSpPr>
          <p:nvPr userDrawn="1"/>
        </p:nvCxnSpPr>
        <p:spPr>
          <a:xfrm>
            <a:off x="37421" y="5961704"/>
            <a:ext cx="121068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02A5AEE7-ED35-6643-B795-D6102D5F30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15006" y="37982"/>
            <a:ext cx="4628276" cy="6372693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DA625E23-5488-F423-8F1D-2F962120E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50881" t="11064" r="24137" b="8146"/>
          <a:stretch/>
        </p:blipFill>
        <p:spPr>
          <a:xfrm>
            <a:off x="5317434" y="6042549"/>
            <a:ext cx="1415873" cy="763146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0D2B42B3-DD80-5C0E-F660-7917F54FBC2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865996" y="6261519"/>
            <a:ext cx="1342108" cy="35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0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779E747-6BF7-C44D-AFA1-9DEE8E00E305}"/>
              </a:ext>
            </a:extLst>
          </p:cNvPr>
          <p:cNvSpPr/>
          <p:nvPr userDrawn="1"/>
        </p:nvSpPr>
        <p:spPr>
          <a:xfrm>
            <a:off x="37421" y="37982"/>
            <a:ext cx="12105861" cy="5923722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A9E345D6-8E61-BE48-929A-F768D91AEB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718" y="5899674"/>
            <a:ext cx="3649216" cy="10089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45274B-A076-7041-BBB5-B1267094A38F}"/>
              </a:ext>
            </a:extLst>
          </p:cNvPr>
          <p:cNvCxnSpPr>
            <a:cxnSpLocks/>
          </p:cNvCxnSpPr>
          <p:nvPr userDrawn="1"/>
        </p:nvCxnSpPr>
        <p:spPr>
          <a:xfrm>
            <a:off x="37421" y="5961704"/>
            <a:ext cx="121068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53DF9A52-D6A5-D24B-8117-4BA9CC0F02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15006" y="37982"/>
            <a:ext cx="4628276" cy="63726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B0103B-7FCB-D4A3-1F70-D9459659F8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542785" y="6048408"/>
            <a:ext cx="3600497" cy="724535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DBD74750-3D29-01B0-14CB-213866FB41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50881" t="11064" r="24137" b="8146"/>
          <a:stretch/>
        </p:blipFill>
        <p:spPr>
          <a:xfrm>
            <a:off x="5317434" y="6042549"/>
            <a:ext cx="1415873" cy="763146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D3966CE6-EB0D-CD96-9322-D2F93702F64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865996" y="6261519"/>
            <a:ext cx="1342108" cy="35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8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605B3A3-FD14-6D42-B6BD-6A09BA541D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718" y="6249429"/>
            <a:ext cx="2384145" cy="65914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65169E-EF4D-3B43-9564-5B1E83EE6133}"/>
              </a:ext>
            </a:extLst>
          </p:cNvPr>
          <p:cNvCxnSpPr>
            <a:cxnSpLocks/>
          </p:cNvCxnSpPr>
          <p:nvPr userDrawn="1"/>
        </p:nvCxnSpPr>
        <p:spPr>
          <a:xfrm>
            <a:off x="4575" y="901785"/>
            <a:ext cx="12204000" cy="0"/>
          </a:xfrm>
          <a:prstGeom prst="line">
            <a:avLst/>
          </a:prstGeom>
          <a:ln w="28575">
            <a:solidFill>
              <a:srgbClr val="0AC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72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r.mexiadiaz@hotmail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r.mexiadiaz@hot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FCFD6B-9A06-A46E-94BE-B66B5BB00B68}"/>
              </a:ext>
            </a:extLst>
          </p:cNvPr>
          <p:cNvSpPr txBox="1"/>
          <p:nvPr/>
        </p:nvSpPr>
        <p:spPr>
          <a:xfrm>
            <a:off x="202201" y="4018038"/>
            <a:ext cx="71561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15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Cynthia Sandor</a:t>
            </a:r>
            <a:br>
              <a:rPr kumimoji="0" lang="en-GB" sz="2400" b="1" i="0" u="none" strike="noStrike" kern="1200" cap="none" spc="-15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</a:b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Edmond J Safra 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Assistant Professor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UKRI Future Leader Fellow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UK Dementia Research Institute Group Leader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2" descr="The Edmond J. Safra Fellowship in Movement Disorders | Parkinson's Disease">
            <a:extLst>
              <a:ext uri="{FF2B5EF4-FFF2-40B4-BE49-F238E27FC236}">
                <a16:creationId xmlns:a16="http://schemas.microsoft.com/office/drawing/2014/main" id="{18ECB658-87D2-A5A3-8083-68CC699289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87" t="-3816" r="-4577" b="-3155"/>
          <a:stretch/>
        </p:blipFill>
        <p:spPr bwMode="auto">
          <a:xfrm>
            <a:off x="10047920" y="6101854"/>
            <a:ext cx="2140177" cy="68578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260B9B-68AD-9B47-CC86-16EFD219C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860" y="6031473"/>
            <a:ext cx="2893973" cy="856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996D2B-B3C1-991B-EA4E-947C568CF0C7}"/>
              </a:ext>
            </a:extLst>
          </p:cNvPr>
          <p:cNvSpPr txBox="1"/>
          <p:nvPr/>
        </p:nvSpPr>
        <p:spPr>
          <a:xfrm>
            <a:off x="202201" y="125177"/>
            <a:ext cx="828457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5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3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GB" sz="5400" dirty="0">
                <a:solidFill>
                  <a:schemeClr val="accent4"/>
                </a:solidFill>
              </a:rPr>
              <a:t>Hackathon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2" descr="The Michael J. Fox Foundation Debuts New Foundation and Team Fox Logos |  Parkinson's Disease">
            <a:extLst>
              <a:ext uri="{FF2B5EF4-FFF2-40B4-BE49-F238E27FC236}">
                <a16:creationId xmlns:a16="http://schemas.microsoft.com/office/drawing/2014/main" id="{33E172AC-C22F-2BB8-C7F9-2641291235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02" b="20659"/>
          <a:stretch/>
        </p:blipFill>
        <p:spPr bwMode="auto">
          <a:xfrm>
            <a:off x="6585443" y="6045897"/>
            <a:ext cx="1701308" cy="68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463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27DC9-A4FA-F730-2688-1E8EECB7B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534BFF-69F9-EEDF-A719-875E918F4C11}"/>
              </a:ext>
            </a:extLst>
          </p:cNvPr>
          <p:cNvSpPr txBox="1"/>
          <p:nvPr/>
        </p:nvSpPr>
        <p:spPr>
          <a:xfrm>
            <a:off x="328613" y="191333"/>
            <a:ext cx="10644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326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Hackathon- Mission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74054-9AB4-CA22-3EE9-0CD58054553A}"/>
              </a:ext>
            </a:extLst>
          </p:cNvPr>
          <p:cNvSpPr txBox="1"/>
          <p:nvPr/>
        </p:nvSpPr>
        <p:spPr>
          <a:xfrm>
            <a:off x="492918" y="4340368"/>
            <a:ext cx="11599069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32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32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32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32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32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2309F0-88F7-45B0-B136-09A760511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3" y="1305341"/>
            <a:ext cx="1110138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002060"/>
                </a:solidFill>
              </a:rPr>
              <a:t>Data: </a:t>
            </a:r>
            <a:r>
              <a:rPr lang="en-GB" dirty="0">
                <a:solidFill>
                  <a:srgbClr val="002060"/>
                </a:solidFill>
              </a:rPr>
              <a:t>We will work with the first PPMI visit of the Prodromal and PD participants, using the cleaned dataset:</a:t>
            </a:r>
          </a:p>
          <a:p>
            <a:r>
              <a:rPr lang="en-GB" b="1" dirty="0" err="1">
                <a:solidFill>
                  <a:srgbClr val="002060"/>
                </a:solidFill>
              </a:rPr>
              <a:t>ppmi_hack_dirty.csv</a:t>
            </a:r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r>
              <a:rPr lang="en-GB" dirty="0">
                <a:solidFill>
                  <a:srgbClr val="002060"/>
                </a:solidFill>
              </a:rPr>
              <a:t>The dataset includes:</a:t>
            </a:r>
          </a:p>
          <a:p>
            <a:r>
              <a:rPr lang="en-GB" b="1" dirty="0">
                <a:solidFill>
                  <a:srgbClr val="002060"/>
                </a:solidFill>
              </a:rPr>
              <a:t>Participant ID (PATNO), Cohort</a:t>
            </a:r>
            <a:r>
              <a:rPr lang="en-GB" dirty="0">
                <a:solidFill>
                  <a:srgbClr val="002060"/>
                </a:solidFill>
              </a:rPr>
              <a:t> (Prodromal / Parkinson’s Disease), </a:t>
            </a:r>
            <a:r>
              <a:rPr lang="en-GB" b="1" dirty="0">
                <a:solidFill>
                  <a:srgbClr val="002060"/>
                </a:solidFill>
              </a:rPr>
              <a:t>Demographics:</a:t>
            </a:r>
            <a:r>
              <a:rPr lang="en-GB" dirty="0">
                <a:solidFill>
                  <a:srgbClr val="002060"/>
                </a:solidFill>
              </a:rPr>
              <a:t> sex, handedness, age at enrolment, </a:t>
            </a:r>
            <a:r>
              <a:rPr lang="en-GB" b="1" dirty="0">
                <a:solidFill>
                  <a:srgbClr val="002060"/>
                </a:solidFill>
              </a:rPr>
              <a:t>Clinical scores:</a:t>
            </a:r>
            <a:r>
              <a:rPr lang="en-GB" dirty="0">
                <a:solidFill>
                  <a:srgbClr val="002060"/>
                </a:solidFill>
              </a:rPr>
              <a:t> total UPDRS-III (NP3TOT) and MoCA (MCATOT)</a:t>
            </a:r>
          </a:p>
          <a:p>
            <a:r>
              <a:rPr lang="en-GB" b="1" dirty="0">
                <a:solidFill>
                  <a:srgbClr val="002060"/>
                </a:solidFill>
              </a:rPr>
              <a:t>Neuroimaging:</a:t>
            </a:r>
            <a:r>
              <a:rPr lang="en-GB" dirty="0">
                <a:solidFill>
                  <a:srgbClr val="002060"/>
                </a:solidFill>
              </a:rPr>
              <a:t> total grey matter volume (</a:t>
            </a:r>
            <a:r>
              <a:rPr lang="en-GB" dirty="0" err="1">
                <a:solidFill>
                  <a:srgbClr val="002060"/>
                </a:solidFill>
              </a:rPr>
              <a:t>GMvol</a:t>
            </a:r>
            <a:r>
              <a:rPr lang="en-GB" dirty="0">
                <a:solidFill>
                  <a:srgbClr val="002060"/>
                </a:solidFill>
              </a:rPr>
              <a:t>), available only for participants with an MRI scan at baseline (</a:t>
            </a:r>
            <a:r>
              <a:rPr lang="en-GB" dirty="0" err="1">
                <a:solidFill>
                  <a:srgbClr val="002060"/>
                </a:solidFill>
              </a:rPr>
              <a:t>NaN</a:t>
            </a:r>
            <a:r>
              <a:rPr lang="en-GB" dirty="0">
                <a:solidFill>
                  <a:srgbClr val="002060"/>
                </a:solidFill>
              </a:rPr>
              <a:t> for others), </a:t>
            </a:r>
            <a:r>
              <a:rPr lang="en-GB" b="1" dirty="0">
                <a:solidFill>
                  <a:srgbClr val="002060"/>
                </a:solidFill>
              </a:rPr>
              <a:t>Clinic information:</a:t>
            </a:r>
            <a:r>
              <a:rPr lang="en-GB" dirty="0">
                <a:solidFill>
                  <a:srgbClr val="002060"/>
                </a:solidFill>
              </a:rPr>
              <a:t> each participant is linked to a clinical site (</a:t>
            </a:r>
            <a:r>
              <a:rPr lang="en-GB" dirty="0" err="1">
                <a:solidFill>
                  <a:srgbClr val="002060"/>
                </a:solidFill>
              </a:rPr>
              <a:t>clinic_id</a:t>
            </a:r>
            <a:r>
              <a:rPr lang="en-GB" dirty="0">
                <a:solidFill>
                  <a:srgbClr val="002060"/>
                </a:solidFill>
              </a:rPr>
              <a:t>)</a:t>
            </a:r>
          </a:p>
          <a:p>
            <a:endParaRPr lang="en-GB" dirty="0">
              <a:solidFill>
                <a:srgbClr val="002060"/>
              </a:solidFill>
            </a:endParaRPr>
          </a:p>
          <a:p>
            <a:r>
              <a:rPr lang="en-GB" dirty="0">
                <a:solidFill>
                  <a:srgbClr val="002060"/>
                </a:solidFill>
              </a:rPr>
              <a:t>A supplementary lookup file (</a:t>
            </a:r>
            <a:r>
              <a:rPr lang="en-GB" b="1" dirty="0" err="1">
                <a:solidFill>
                  <a:srgbClr val="002060"/>
                </a:solidFill>
              </a:rPr>
              <a:t>clinics_lookup_dirty.csv</a:t>
            </a:r>
            <a:r>
              <a:rPr lang="en-GB" dirty="0">
                <a:solidFill>
                  <a:srgbClr val="002060"/>
                </a:solidFill>
              </a:rPr>
              <a:t>) maps each clinic to a </a:t>
            </a:r>
            <a:r>
              <a:rPr lang="en-GB" b="1" dirty="0">
                <a:solidFill>
                  <a:srgbClr val="002060"/>
                </a:solidFill>
              </a:rPr>
              <a:t>geographical region</a:t>
            </a:r>
            <a:r>
              <a:rPr lang="en-GB" dirty="0">
                <a:solidFill>
                  <a:srgbClr val="002060"/>
                </a:solidFill>
              </a:rPr>
              <a:t> (e.g. New York,…), enabling regional analyses.</a:t>
            </a:r>
          </a:p>
          <a:p>
            <a:endParaRPr lang="en-GB" dirty="0">
              <a:solidFill>
                <a:srgbClr val="002060"/>
              </a:solidFill>
            </a:endParaRPr>
          </a:p>
          <a:p>
            <a:r>
              <a:rPr lang="en-GB" b="1" dirty="0">
                <a:solidFill>
                  <a:srgbClr val="002060"/>
                </a:solidFill>
              </a:rPr>
              <a:t>Mission </a:t>
            </a:r>
            <a:r>
              <a:rPr lang="en-GB" dirty="0">
                <a:solidFill>
                  <a:srgbClr val="002060"/>
                </a:solidFill>
              </a:rPr>
              <a:t>Today we aim to characterise the dataset and explore: demographic differences between Prodromal and PD cohorts, relationships between motor symptoms, cognitive performance, and grey matter volume, and potential geographical differences in disease severity across clinic regions.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62F05-5F69-B889-1CE1-A88F7CCE1047}"/>
              </a:ext>
            </a:extLst>
          </p:cNvPr>
          <p:cNvSpPr txBox="1"/>
          <p:nvPr/>
        </p:nvSpPr>
        <p:spPr>
          <a:xfrm>
            <a:off x="3024188" y="5690891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https://</a:t>
            </a:r>
            <a:r>
              <a:rPr lang="en-US" dirty="0" err="1">
                <a:solidFill>
                  <a:srgbClr val="002060"/>
                </a:solidFill>
              </a:rPr>
              <a:t>github.com</a:t>
            </a:r>
            <a:r>
              <a:rPr lang="en-US" dirty="0">
                <a:solidFill>
                  <a:srgbClr val="002060"/>
                </a:solidFill>
              </a:rPr>
              <a:t>/</a:t>
            </a:r>
            <a:r>
              <a:rPr lang="en-US" dirty="0" err="1">
                <a:solidFill>
                  <a:srgbClr val="002060"/>
                </a:solidFill>
              </a:rPr>
              <a:t>Sandoretal</a:t>
            </a:r>
            <a:r>
              <a:rPr lang="en-US" dirty="0">
                <a:solidFill>
                  <a:srgbClr val="002060"/>
                </a:solidFill>
              </a:rPr>
              <a:t>/Hackathon_2025</a:t>
            </a:r>
          </a:p>
        </p:txBody>
      </p:sp>
    </p:spTree>
    <p:extLst>
      <p:ext uri="{BB962C8B-B14F-4D97-AF65-F5344CB8AC3E}">
        <p14:creationId xmlns:p14="http://schemas.microsoft.com/office/powerpoint/2010/main" val="146160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E15EDE-221E-24BB-112A-234F86D7E701}"/>
              </a:ext>
            </a:extLst>
          </p:cNvPr>
          <p:cNvSpPr txBox="1"/>
          <p:nvPr/>
        </p:nvSpPr>
        <p:spPr>
          <a:xfrm>
            <a:off x="0" y="241004"/>
            <a:ext cx="91124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>
                <a:solidFill>
                  <a:srgbClr val="002060"/>
                </a:solidFill>
              </a:rPr>
              <a:t>Stage1 | Individual Planning (Brainstorm) 9:30-9:50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B3D9A-DF56-4742-D083-A70D12884084}"/>
              </a:ext>
            </a:extLst>
          </p:cNvPr>
          <p:cNvSpPr txBox="1"/>
          <p:nvPr/>
        </p:nvSpPr>
        <p:spPr>
          <a:xfrm>
            <a:off x="362607" y="913492"/>
            <a:ext cx="1125657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002060"/>
                </a:solidFill>
              </a:rPr>
              <a:t>Task:</a:t>
            </a:r>
            <a:r>
              <a:rPr lang="en-GB" sz="2400" dirty="0">
                <a:solidFill>
                  <a:srgbClr val="002060"/>
                </a:solidFill>
              </a:rPr>
              <a:t> Produce </a:t>
            </a:r>
            <a:r>
              <a:rPr lang="en-GB" sz="2400" b="1" dirty="0">
                <a:solidFill>
                  <a:srgbClr val="002060"/>
                </a:solidFill>
              </a:rPr>
              <a:t>up to 2 slides</a:t>
            </a:r>
            <a:r>
              <a:rPr lang="en-GB" sz="2400" dirty="0">
                <a:solidFill>
                  <a:srgbClr val="002060"/>
                </a:solidFill>
              </a:rPr>
              <a:t> outlining your analysis plan.</a:t>
            </a:r>
          </a:p>
          <a:p>
            <a:pPr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GB" sz="2400" dirty="0">
                <a:solidFill>
                  <a:srgbClr val="002060"/>
                </a:solidFill>
              </a:rPr>
              <a:t>Your slides must include:</a:t>
            </a:r>
          </a:p>
          <a:p>
            <a:pPr>
              <a:buFont typeface="+mj-lt"/>
              <a:buAutoNum type="arabicPeriod"/>
            </a:pPr>
            <a:r>
              <a:rPr lang="en-GB" sz="2400" b="1" dirty="0">
                <a:solidFill>
                  <a:srgbClr val="002060"/>
                </a:solidFill>
              </a:rPr>
              <a:t>Scientific Question(s) </a:t>
            </a:r>
            <a:r>
              <a:rPr lang="en-GB" sz="2400" dirty="0">
                <a:solidFill>
                  <a:srgbClr val="002060"/>
                </a:solidFill>
              </a:rPr>
              <a:t>What are you trying to discover or compare in the dataset?</a:t>
            </a:r>
          </a:p>
          <a:p>
            <a:pPr>
              <a:buFont typeface="+mj-lt"/>
              <a:buAutoNum type="arabicPeriod"/>
            </a:pPr>
            <a:r>
              <a:rPr lang="en-GB" sz="2400" b="1" dirty="0">
                <a:solidFill>
                  <a:srgbClr val="002060"/>
                </a:solidFill>
              </a:rPr>
              <a:t>Hypothesis / Hypotheses </a:t>
            </a:r>
            <a:r>
              <a:rPr lang="en-GB" sz="2400" dirty="0">
                <a:solidFill>
                  <a:srgbClr val="002060"/>
                </a:solidFill>
              </a:rPr>
              <a:t>What do you </a:t>
            </a:r>
            <a:r>
              <a:rPr lang="en-GB" sz="2400" i="1" dirty="0">
                <a:solidFill>
                  <a:srgbClr val="002060"/>
                </a:solidFill>
              </a:rPr>
              <a:t>expect</a:t>
            </a:r>
            <a:r>
              <a:rPr lang="en-GB" sz="2400" dirty="0">
                <a:solidFill>
                  <a:srgbClr val="002060"/>
                </a:solidFill>
              </a:rPr>
              <a:t> to observe? State a clear, testable prediction.</a:t>
            </a:r>
          </a:p>
          <a:p>
            <a:pPr>
              <a:buFont typeface="+mj-lt"/>
              <a:buAutoNum type="arabicPeriod"/>
            </a:pPr>
            <a:r>
              <a:rPr lang="en-GB" sz="2400" b="1" dirty="0">
                <a:solidFill>
                  <a:srgbClr val="002060"/>
                </a:solidFill>
              </a:rPr>
              <a:t>Proposed Analysis Steps </a:t>
            </a:r>
            <a:r>
              <a:rPr lang="en-GB" sz="2400" dirty="0">
                <a:solidFill>
                  <a:srgbClr val="002060"/>
                </a:solidFill>
              </a:rPr>
              <a:t>Brief plan of the methods you will use</a:t>
            </a:r>
          </a:p>
          <a:p>
            <a:r>
              <a:rPr lang="en-GB" sz="2400" dirty="0">
                <a:solidFill>
                  <a:srgbClr val="002060"/>
                </a:solidFill>
              </a:rPr>
              <a:t>Example: data cleaning → group comparison → visualisation → statistics</a:t>
            </a:r>
          </a:p>
          <a:p>
            <a:endParaRPr lang="en-GB" sz="24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GB" sz="2400" b="1" dirty="0">
                <a:solidFill>
                  <a:srgbClr val="002060"/>
                </a:solidFill>
              </a:rPr>
              <a:t>Goal:</a:t>
            </a:r>
            <a:r>
              <a:rPr lang="en-GB" sz="2400" dirty="0">
                <a:solidFill>
                  <a:srgbClr val="002060"/>
                </a:solidFill>
              </a:rPr>
              <a:t> Be clear, focused, and concise — this will guide your group work in Stage2</a:t>
            </a:r>
            <a:r>
              <a:rPr lang="en-GB" sz="2400" dirty="0"/>
              <a:t>.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b="1" u="sng" dirty="0">
                <a:solidFill>
                  <a:srgbClr val="002060"/>
                </a:solidFill>
              </a:rPr>
              <a:t>Submitted at 9:50 to your TA via Blackboard / except group 4 email </a:t>
            </a:r>
            <a:r>
              <a:rPr lang="en-GB" sz="2400" b="1" u="sng" dirty="0">
                <a:solidFill>
                  <a:srgbClr val="002060"/>
                </a:solidFill>
                <a:hlinkClick r:id="rId3"/>
              </a:rPr>
              <a:t>r.mexiadiaz@hotmail.com</a:t>
            </a:r>
            <a:r>
              <a:rPr lang="en-GB" sz="2400" b="1" u="sng" dirty="0">
                <a:solidFill>
                  <a:srgbClr val="002060"/>
                </a:solidFill>
              </a:rPr>
              <a:t> (worth 50%)</a:t>
            </a:r>
          </a:p>
        </p:txBody>
      </p:sp>
    </p:spTree>
    <p:extLst>
      <p:ext uri="{BB962C8B-B14F-4D97-AF65-F5344CB8AC3E}">
        <p14:creationId xmlns:p14="http://schemas.microsoft.com/office/powerpoint/2010/main" val="119879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BDBB-41B3-9092-C0AC-6F647B43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2F421C-523D-8C6B-60BA-881A7401D4F8}"/>
              </a:ext>
            </a:extLst>
          </p:cNvPr>
          <p:cNvSpPr txBox="1"/>
          <p:nvPr/>
        </p:nvSpPr>
        <p:spPr>
          <a:xfrm>
            <a:off x="378371" y="241003"/>
            <a:ext cx="87879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2060"/>
                </a:solidFill>
              </a:rPr>
              <a:t>Stage 2 | Group Analysis (09:50–14:00)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35498-A5EB-6678-FDB9-64280489AA5E}"/>
              </a:ext>
            </a:extLst>
          </p:cNvPr>
          <p:cNvSpPr txBox="1"/>
          <p:nvPr/>
        </p:nvSpPr>
        <p:spPr>
          <a:xfrm>
            <a:off x="220716" y="982176"/>
            <a:ext cx="120808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2060"/>
                </a:solidFill>
              </a:rPr>
              <a:t>Task:</a:t>
            </a:r>
            <a:r>
              <a:rPr lang="en-GB" sz="2400" dirty="0">
                <a:solidFill>
                  <a:srgbClr val="002060"/>
                </a:solidFill>
              </a:rPr>
              <a:t> Work collaboratively on coding and data analysis.</a:t>
            </a:r>
            <a:br>
              <a:rPr lang="en-GB" sz="2400" dirty="0">
                <a:solidFill>
                  <a:srgbClr val="002060"/>
                </a:solidFill>
              </a:rPr>
            </a:br>
            <a:endParaRPr lang="en-GB" sz="2400" dirty="0">
              <a:solidFill>
                <a:srgbClr val="002060"/>
              </a:solidFill>
            </a:endParaRPr>
          </a:p>
          <a:p>
            <a:r>
              <a:rPr lang="en-GB" sz="2400" dirty="0">
                <a:solidFill>
                  <a:srgbClr val="002060"/>
                </a:solidFill>
              </a:rPr>
              <a:t>Your group will:</a:t>
            </a:r>
          </a:p>
          <a:p>
            <a:r>
              <a:rPr lang="en-GB" sz="2400" b="1" dirty="0">
                <a:solidFill>
                  <a:srgbClr val="002060"/>
                </a:solidFill>
              </a:rPr>
              <a:t>As a group, select a combination of questions to address</a:t>
            </a:r>
            <a:endParaRPr lang="en-GB" sz="2400" dirty="0">
              <a:solidFill>
                <a:srgbClr val="002060"/>
              </a:solidFill>
            </a:endParaRPr>
          </a:p>
          <a:p>
            <a:r>
              <a:rPr lang="en-GB" sz="2400" dirty="0">
                <a:solidFill>
                  <a:srgbClr val="002060"/>
                </a:solidFill>
              </a:rPr>
              <a:t>– Marks will relate to the </a:t>
            </a:r>
            <a:r>
              <a:rPr lang="en-GB" sz="2400" b="1" dirty="0">
                <a:solidFill>
                  <a:srgbClr val="002060"/>
                </a:solidFill>
              </a:rPr>
              <a:t>number and difficulty</a:t>
            </a:r>
            <a:r>
              <a:rPr lang="en-GB" sz="2400" dirty="0">
                <a:solidFill>
                  <a:srgbClr val="002060"/>
                </a:solidFill>
              </a:rPr>
              <a:t> of questions answered</a:t>
            </a:r>
          </a:p>
          <a:p>
            <a:r>
              <a:rPr lang="en-GB" sz="2400" dirty="0">
                <a:solidFill>
                  <a:srgbClr val="002060"/>
                </a:solidFill>
              </a:rPr>
              <a:t>– Recommendations include (but are not limited to):</a:t>
            </a:r>
          </a:p>
          <a:p>
            <a:r>
              <a:rPr lang="en-GB" sz="2400" dirty="0">
                <a:solidFill>
                  <a:srgbClr val="002060"/>
                </a:solidFill>
              </a:rPr>
              <a:t>• </a:t>
            </a:r>
            <a:r>
              <a:rPr lang="en-GB" sz="2400" b="1" dirty="0">
                <a:solidFill>
                  <a:srgbClr val="002060"/>
                </a:solidFill>
              </a:rPr>
              <a:t>Easy, Moderate, and/or Advanced</a:t>
            </a:r>
            <a:r>
              <a:rPr lang="en-GB" sz="2400" dirty="0">
                <a:solidFill>
                  <a:srgbClr val="002060"/>
                </a:solidFill>
              </a:rPr>
              <a:t> questions (choose a mix)</a:t>
            </a:r>
          </a:p>
          <a:p>
            <a:r>
              <a:rPr lang="en-GB" sz="2400" b="1" dirty="0">
                <a:solidFill>
                  <a:srgbClr val="002060"/>
                </a:solidFill>
              </a:rPr>
              <a:t>Follow the semi-empty </a:t>
            </a:r>
            <a:r>
              <a:rPr lang="en-GB" sz="2400" b="1" dirty="0" err="1">
                <a:solidFill>
                  <a:srgbClr val="002060"/>
                </a:solidFill>
              </a:rPr>
              <a:t>iPython</a:t>
            </a:r>
            <a:r>
              <a:rPr lang="en-GB" sz="2400" b="1" dirty="0">
                <a:solidFill>
                  <a:srgbClr val="002060"/>
                </a:solidFill>
              </a:rPr>
              <a:t> notebook</a:t>
            </a:r>
            <a:r>
              <a:rPr lang="en-GB" sz="2400" dirty="0">
                <a:solidFill>
                  <a:srgbClr val="002060"/>
                </a:solidFill>
              </a:rPr>
              <a:t> (provided via GitHub)</a:t>
            </a:r>
          </a:p>
          <a:p>
            <a:r>
              <a:rPr lang="en-GB" sz="2400" dirty="0">
                <a:solidFill>
                  <a:srgbClr val="002060"/>
                </a:solidFill>
              </a:rPr>
              <a:t>– Structure and headings are provided — </a:t>
            </a:r>
            <a:r>
              <a:rPr lang="en-GB" sz="2400" i="1" dirty="0">
                <a:solidFill>
                  <a:srgbClr val="002060"/>
                </a:solidFill>
              </a:rPr>
              <a:t>you fill in the analysis</a:t>
            </a:r>
          </a:p>
          <a:p>
            <a:r>
              <a:rPr lang="en-GB" sz="2400" b="1" dirty="0">
                <a:solidFill>
                  <a:srgbClr val="002060"/>
                </a:solidFill>
              </a:rPr>
              <a:t>Carry out the analysis and produce clear, well-commented code</a:t>
            </a:r>
            <a:endParaRPr lang="en-GB" sz="2400" dirty="0">
              <a:solidFill>
                <a:srgbClr val="002060"/>
              </a:solidFill>
            </a:endParaRPr>
          </a:p>
          <a:p>
            <a:r>
              <a:rPr lang="en-GB" sz="2400" dirty="0">
                <a:solidFill>
                  <a:srgbClr val="002060"/>
                </a:solidFill>
              </a:rPr>
              <a:t>– This is your </a:t>
            </a:r>
            <a:r>
              <a:rPr lang="en-GB" sz="2400" b="1" dirty="0">
                <a:solidFill>
                  <a:srgbClr val="002060"/>
                </a:solidFill>
              </a:rPr>
              <a:t>final product</a:t>
            </a:r>
            <a:r>
              <a:rPr lang="en-GB" sz="2400" dirty="0">
                <a:solidFill>
                  <a:srgbClr val="002060"/>
                </a:solidFill>
              </a:rPr>
              <a:t> for Stage 2</a:t>
            </a:r>
          </a:p>
          <a:p>
            <a:r>
              <a:rPr lang="en-GB" sz="2400" b="1" dirty="0">
                <a:solidFill>
                  <a:srgbClr val="002060"/>
                </a:solidFill>
              </a:rPr>
              <a:t>Output:</a:t>
            </a:r>
            <a:endParaRPr lang="en-GB" sz="2400" dirty="0">
              <a:solidFill>
                <a:srgbClr val="002060"/>
              </a:solidFill>
            </a:endParaRPr>
          </a:p>
          <a:p>
            <a:r>
              <a:rPr lang="en-GB" sz="2400" b="1" u="sng" dirty="0">
                <a:solidFill>
                  <a:srgbClr val="002060"/>
                </a:solidFill>
              </a:rPr>
              <a:t>Submit group analysis code at 14h via Blackboard to your TA except group 4 group 4 email </a:t>
            </a:r>
            <a:r>
              <a:rPr lang="en-GB" sz="2400" b="1" u="sng" dirty="0">
                <a:solidFill>
                  <a:srgbClr val="002060"/>
                </a:solidFill>
                <a:hlinkClick r:id="rId3"/>
              </a:rPr>
              <a:t>r.mexiadiaz@hotmail.com</a:t>
            </a:r>
            <a:r>
              <a:rPr lang="en-GB" sz="2400" b="1" u="sng" dirty="0">
                <a:solidFill>
                  <a:srgbClr val="002060"/>
                </a:solidFill>
              </a:rPr>
              <a:t> </a:t>
            </a:r>
            <a:r>
              <a:rPr lang="en-GB" sz="2400" u="sng" dirty="0">
                <a:solidFill>
                  <a:srgbClr val="002060"/>
                </a:solidFill>
              </a:rPr>
              <a:t>(worth </a:t>
            </a:r>
            <a:r>
              <a:rPr lang="en-GB" sz="2400" b="1" u="sng" dirty="0">
                <a:solidFill>
                  <a:srgbClr val="002060"/>
                </a:solidFill>
              </a:rPr>
              <a:t>20%</a:t>
            </a:r>
            <a:r>
              <a:rPr lang="en-GB" sz="2400" u="sng" dirty="0">
                <a:solidFill>
                  <a:srgbClr val="002060"/>
                </a:solidFill>
              </a:rPr>
              <a:t>)</a:t>
            </a:r>
          </a:p>
          <a:p>
            <a:pPr>
              <a:buNone/>
            </a:pPr>
            <a:endParaRPr lang="en-GB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82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E15EDE-221E-24BB-112A-234F86D7E701}"/>
              </a:ext>
            </a:extLst>
          </p:cNvPr>
          <p:cNvSpPr txBox="1"/>
          <p:nvPr/>
        </p:nvSpPr>
        <p:spPr>
          <a:xfrm>
            <a:off x="1539766" y="183854"/>
            <a:ext cx="91124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https://</a:t>
            </a:r>
            <a:r>
              <a:rPr lang="en-US" sz="2800" b="1" dirty="0" err="1">
                <a:solidFill>
                  <a:srgbClr val="002060"/>
                </a:solidFill>
              </a:rPr>
              <a:t>github.com</a:t>
            </a:r>
            <a:r>
              <a:rPr lang="en-US" sz="2800" b="1" dirty="0">
                <a:solidFill>
                  <a:srgbClr val="002060"/>
                </a:solidFill>
              </a:rPr>
              <a:t>/</a:t>
            </a:r>
            <a:r>
              <a:rPr lang="en-US" sz="2800" b="1" dirty="0" err="1">
                <a:solidFill>
                  <a:srgbClr val="002060"/>
                </a:solidFill>
              </a:rPr>
              <a:t>Sandoretal</a:t>
            </a:r>
            <a:r>
              <a:rPr lang="en-US" sz="2800" b="1" dirty="0">
                <a:solidFill>
                  <a:srgbClr val="002060"/>
                </a:solidFill>
              </a:rPr>
              <a:t>/Hackathon_2025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95487-0416-7514-117E-3EC1CF85C889}"/>
              </a:ext>
            </a:extLst>
          </p:cNvPr>
          <p:cNvSpPr txBox="1"/>
          <p:nvPr/>
        </p:nvSpPr>
        <p:spPr>
          <a:xfrm>
            <a:off x="1000126" y="1610916"/>
            <a:ext cx="965210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Three Python Notebooks</a:t>
            </a: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i="1" dirty="0">
                <a:solidFill>
                  <a:schemeClr val="tx2"/>
                </a:solidFill>
              </a:rPr>
              <a:t>Part1_easy.ipynb</a:t>
            </a: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i="1" dirty="0">
                <a:solidFill>
                  <a:schemeClr val="tx2"/>
                </a:solidFill>
              </a:rPr>
              <a:t>Part2_medium.ipynb</a:t>
            </a: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i="1" dirty="0">
                <a:solidFill>
                  <a:schemeClr val="tx2"/>
                </a:solidFill>
              </a:rPr>
              <a:t>Part3_advanced.ipynb</a:t>
            </a:r>
            <a:endParaRPr lang="en-GB" sz="2400" dirty="0">
              <a:solidFill>
                <a:schemeClr val="tx2"/>
              </a:solidFill>
            </a:endParaRPr>
          </a:p>
          <a:p>
            <a:br>
              <a:rPr lang="en-GB" sz="2400" dirty="0">
                <a:solidFill>
                  <a:schemeClr val="tx2"/>
                </a:solidFill>
              </a:rPr>
            </a:b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b="1" dirty="0">
                <a:solidFill>
                  <a:schemeClr val="tx2"/>
                </a:solidFill>
              </a:rPr>
              <a:t>Data Files</a:t>
            </a: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b="1" dirty="0">
                <a:solidFill>
                  <a:schemeClr val="tx2"/>
                </a:solidFill>
              </a:rPr>
              <a:t>Part 1: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i="1" dirty="0" err="1">
                <a:solidFill>
                  <a:schemeClr val="tx2"/>
                </a:solidFill>
              </a:rPr>
              <a:t>ppmi_hack_dirty.csv</a:t>
            </a:r>
            <a:r>
              <a:rPr lang="en-GB" sz="2400" dirty="0">
                <a:solidFill>
                  <a:schemeClr val="tx2"/>
                </a:solidFill>
              </a:rPr>
              <a:t>, </a:t>
            </a:r>
            <a:r>
              <a:rPr lang="en-GB" sz="2400" i="1" dirty="0" err="1">
                <a:solidFill>
                  <a:schemeClr val="tx2"/>
                </a:solidFill>
              </a:rPr>
              <a:t>clinics_lookup_dirty.csv</a:t>
            </a: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b="1" dirty="0">
                <a:solidFill>
                  <a:schemeClr val="tx2"/>
                </a:solidFill>
              </a:rPr>
              <a:t>Part 2: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i="1" dirty="0">
                <a:solidFill>
                  <a:schemeClr val="tx2"/>
                </a:solidFill>
              </a:rPr>
              <a:t>ppmi_hack_cleaned_notebook1.csv</a:t>
            </a:r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b="1" dirty="0">
                <a:solidFill>
                  <a:schemeClr val="tx2"/>
                </a:solidFill>
              </a:rPr>
              <a:t>Part 3:</a:t>
            </a:r>
            <a:r>
              <a:rPr lang="en-GB" sz="2400" dirty="0">
                <a:solidFill>
                  <a:schemeClr val="tx2"/>
                </a:solidFill>
              </a:rPr>
              <a:t> </a:t>
            </a:r>
            <a:r>
              <a:rPr lang="en-GB" sz="2400" i="1" dirty="0">
                <a:solidFill>
                  <a:schemeClr val="tx2"/>
                </a:solidFill>
              </a:rPr>
              <a:t>ppmi_hack_imputed_notebook2.csv</a:t>
            </a:r>
            <a:endParaRPr lang="en-GB" sz="2400" dirty="0">
              <a:solidFill>
                <a:schemeClr val="tx2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209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3BED4-5429-5643-A401-F7BBA6FD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F4A403-A0B1-F8F2-B825-CEEB7191E163}"/>
              </a:ext>
            </a:extLst>
          </p:cNvPr>
          <p:cNvSpPr txBox="1"/>
          <p:nvPr/>
        </p:nvSpPr>
        <p:spPr>
          <a:xfrm>
            <a:off x="1539766" y="183854"/>
            <a:ext cx="91124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38547-632D-7DA9-7C3C-F46EFB7CE711}"/>
              </a:ext>
            </a:extLst>
          </p:cNvPr>
          <p:cNvSpPr txBox="1"/>
          <p:nvPr/>
        </p:nvSpPr>
        <p:spPr>
          <a:xfrm>
            <a:off x="1000126" y="1610916"/>
            <a:ext cx="9652108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Take a coffee or food break at any point.</a:t>
            </a:r>
          </a:p>
          <a:p>
            <a:endParaRPr lang="en-GB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You may not use any AI generative tools, including Copilot.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To deactivate Copilot in Visual Studio Code: Go to </a:t>
            </a:r>
            <a:r>
              <a:rPr lang="en-GB" sz="2400" b="1" dirty="0">
                <a:solidFill>
                  <a:schemeClr val="tx2"/>
                </a:solidFill>
              </a:rPr>
              <a:t>Extensions</a:t>
            </a:r>
            <a:r>
              <a:rPr lang="en-GB" sz="2400" dirty="0">
                <a:solidFill>
                  <a:schemeClr val="tx2"/>
                </a:solidFill>
              </a:rPr>
              <a:t> (left sidebar) &gt; Find </a:t>
            </a:r>
            <a:r>
              <a:rPr lang="en-GB" sz="2400" b="1" dirty="0">
                <a:solidFill>
                  <a:schemeClr val="tx2"/>
                </a:solidFill>
              </a:rPr>
              <a:t>GitHub Copilot &gt; </a:t>
            </a:r>
            <a:r>
              <a:rPr lang="en-GB" sz="2400" dirty="0">
                <a:solidFill>
                  <a:schemeClr val="tx2"/>
                </a:solidFill>
              </a:rPr>
              <a:t>Click the </a:t>
            </a:r>
            <a:r>
              <a:rPr lang="en-GB" sz="2400" b="1" dirty="0">
                <a:solidFill>
                  <a:schemeClr val="tx2"/>
                </a:solidFill>
              </a:rPr>
              <a:t>gear icon → Disable</a:t>
            </a:r>
            <a:endParaRPr lang="en-GB" sz="2400" dirty="0">
              <a:solidFill>
                <a:schemeClr val="tx2"/>
              </a:solidFill>
            </a:endParaRPr>
          </a:p>
          <a:p>
            <a:br>
              <a:rPr lang="en-GB" sz="2400" dirty="0">
                <a:solidFill>
                  <a:schemeClr val="tx2"/>
                </a:solidFill>
              </a:rPr>
            </a:br>
            <a:endParaRPr lang="en-GB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No interaction between groups.</a:t>
            </a:r>
          </a:p>
          <a:p>
            <a:endParaRPr lang="en-GB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357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5F7858-0209-9475-E7FA-8A7FAF0A0A76}"/>
              </a:ext>
            </a:extLst>
          </p:cNvPr>
          <p:cNvSpPr txBox="1"/>
          <p:nvPr/>
        </p:nvSpPr>
        <p:spPr>
          <a:xfrm>
            <a:off x="3228976" y="2890391"/>
            <a:ext cx="74009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1" dirty="0">
                <a:solidFill>
                  <a:schemeClr val="tx2"/>
                </a:solidFill>
                <a:effectLst/>
                <a:latin typeface="Google Sans"/>
              </a:rPr>
              <a:t>“If you want to go fast, go alone. </a:t>
            </a:r>
          </a:p>
          <a:p>
            <a:r>
              <a:rPr lang="en-GB" sz="3200" b="0" i="1" dirty="0">
                <a:solidFill>
                  <a:schemeClr val="tx2"/>
                </a:solidFill>
                <a:effectLst/>
                <a:latin typeface="Google Sans"/>
              </a:rPr>
              <a:t>If you want to go far, go together.”</a:t>
            </a:r>
            <a:endParaRPr lang="en-US" sz="32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8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0C46-219B-F74F-9DB7-84C469A05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CD1539-5961-6537-054D-5C642C8B2534}"/>
              </a:ext>
            </a:extLst>
          </p:cNvPr>
          <p:cNvSpPr txBox="1"/>
          <p:nvPr/>
        </p:nvSpPr>
        <p:spPr>
          <a:xfrm>
            <a:off x="409903" y="241003"/>
            <a:ext cx="87879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Stage 3 | Group Slide Preparation (14:30–15:00)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C161B-C484-443F-9B95-27842F098F2E}"/>
              </a:ext>
            </a:extLst>
          </p:cNvPr>
          <p:cNvSpPr txBox="1"/>
          <p:nvPr/>
        </p:nvSpPr>
        <p:spPr>
          <a:xfrm>
            <a:off x="378370" y="982175"/>
            <a:ext cx="1169801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002060"/>
                </a:solidFill>
              </a:rPr>
              <a:t>Task:</a:t>
            </a:r>
            <a:r>
              <a:rPr lang="en-GB" sz="2400" dirty="0">
                <a:solidFill>
                  <a:srgbClr val="002060"/>
                </a:solidFill>
              </a:rPr>
              <a:t> Create your final </a:t>
            </a:r>
            <a:r>
              <a:rPr lang="en-GB" sz="2400" b="1" dirty="0">
                <a:solidFill>
                  <a:srgbClr val="002060"/>
                </a:solidFill>
              </a:rPr>
              <a:t>presentation slides</a:t>
            </a:r>
            <a:r>
              <a:rPr lang="en-GB" sz="2400" dirty="0">
                <a:solidFill>
                  <a:srgbClr val="002060"/>
                </a:solidFill>
              </a:rPr>
              <a:t> for the group.</a:t>
            </a:r>
          </a:p>
          <a:p>
            <a:pPr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GB" sz="2400" dirty="0">
                <a:solidFill>
                  <a:srgbClr val="002060"/>
                </a:solidFill>
              </a:rPr>
              <a:t>Your slides must include:</a:t>
            </a:r>
          </a:p>
          <a:p>
            <a:pPr>
              <a:buFont typeface="+mj-lt"/>
              <a:buAutoNum type="arabicPeriod"/>
            </a:pPr>
            <a:r>
              <a:rPr lang="en-GB" sz="2400" b="1" dirty="0">
                <a:solidFill>
                  <a:srgbClr val="002060"/>
                </a:solidFill>
              </a:rPr>
              <a:t>Analysis Aims, Pipeline, and Results</a:t>
            </a:r>
            <a:endParaRPr lang="en-GB" sz="2400" dirty="0">
              <a:solidFill>
                <a:srgbClr val="002060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</a:rPr>
              <a:t>– </a:t>
            </a:r>
            <a:r>
              <a:rPr lang="en-GB" sz="2400" i="1" dirty="0">
                <a:solidFill>
                  <a:srgbClr val="002060"/>
                </a:solidFill>
              </a:rPr>
              <a:t>(maximum </a:t>
            </a:r>
            <a:r>
              <a:rPr lang="en-GB" sz="2400" b="1" i="1" dirty="0">
                <a:solidFill>
                  <a:srgbClr val="002060"/>
                </a:solidFill>
              </a:rPr>
              <a:t>6 slides</a:t>
            </a:r>
            <a:r>
              <a:rPr lang="en-GB" sz="2400" i="1" dirty="0">
                <a:solidFill>
                  <a:srgbClr val="002060"/>
                </a:solidFill>
              </a:rPr>
              <a:t> total)</a:t>
            </a:r>
            <a:endParaRPr lang="en-GB" sz="2400" dirty="0">
              <a:solidFill>
                <a:srgbClr val="002060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2400" b="1" dirty="0">
                <a:solidFill>
                  <a:srgbClr val="002060"/>
                </a:solidFill>
              </a:rPr>
              <a:t>Implications / Interpretation</a:t>
            </a:r>
            <a:endParaRPr lang="en-GB" sz="2400" dirty="0">
              <a:solidFill>
                <a:srgbClr val="002060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</a:rPr>
              <a:t>– </a:t>
            </a:r>
            <a:r>
              <a:rPr lang="en-GB" sz="2400" i="1" dirty="0">
                <a:solidFill>
                  <a:srgbClr val="002060"/>
                </a:solidFill>
              </a:rPr>
              <a:t>(</a:t>
            </a:r>
            <a:r>
              <a:rPr lang="en-GB" sz="2400" b="1" i="1" dirty="0">
                <a:solidFill>
                  <a:srgbClr val="002060"/>
                </a:solidFill>
              </a:rPr>
              <a:t>2 slides</a:t>
            </a:r>
            <a:r>
              <a:rPr lang="en-GB" sz="2400" i="1" dirty="0">
                <a:solidFill>
                  <a:srgbClr val="002060"/>
                </a:solidFill>
              </a:rPr>
              <a:t>)</a:t>
            </a:r>
            <a:endParaRPr lang="en-GB" sz="2400" dirty="0">
              <a:solidFill>
                <a:srgbClr val="002060"/>
              </a:solidFill>
            </a:endParaRPr>
          </a:p>
          <a:p>
            <a:pPr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GB" sz="2400" b="1" dirty="0">
                <a:solidFill>
                  <a:srgbClr val="002060"/>
                </a:solidFill>
              </a:rPr>
              <a:t>Deliverable:</a:t>
            </a:r>
            <a:endParaRPr lang="en-GB" sz="24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2060"/>
                </a:solidFill>
              </a:rPr>
              <a:t>Prepare an </a:t>
            </a:r>
            <a:r>
              <a:rPr lang="en-GB" sz="2400" b="1" dirty="0">
                <a:solidFill>
                  <a:srgbClr val="002060"/>
                </a:solidFill>
              </a:rPr>
              <a:t>8-minute group presentation</a:t>
            </a:r>
            <a:r>
              <a:rPr lang="en-GB" sz="2400" dirty="0">
                <a:solidFill>
                  <a:srgbClr val="002060"/>
                </a:solidFill>
              </a:rPr>
              <a:t> (presentation only – Q&amp;A follows in Stage 4)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2060"/>
                </a:solidFill>
              </a:rPr>
              <a:t>Submit group presentation via Blackboard</a:t>
            </a:r>
            <a:endParaRPr lang="en-GB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08028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UK DRI Brand Colours 2">
      <a:dk1>
        <a:srgbClr val="000000"/>
      </a:dk1>
      <a:lt1>
        <a:srgbClr val="FFFFFF"/>
      </a:lt1>
      <a:dk2>
        <a:srgbClr val="00326E"/>
      </a:dk2>
      <a:lt2>
        <a:srgbClr val="C3D1D9"/>
      </a:lt2>
      <a:accent1>
        <a:srgbClr val="415767"/>
      </a:accent1>
      <a:accent2>
        <a:srgbClr val="FA2C6E"/>
      </a:accent2>
      <a:accent3>
        <a:srgbClr val="AA0050"/>
      </a:accent3>
      <a:accent4>
        <a:srgbClr val="0AC8FF"/>
      </a:accent4>
      <a:accent5>
        <a:srgbClr val="007FAF"/>
      </a:accent5>
      <a:accent6>
        <a:srgbClr val="FFED00"/>
      </a:accent6>
      <a:hlink>
        <a:srgbClr val="0AC8FF"/>
      </a:hlink>
      <a:folHlink>
        <a:srgbClr val="007FA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rmal text slide">
  <a:themeElements>
    <a:clrScheme name="UK DRI Brand Colours 2">
      <a:dk1>
        <a:srgbClr val="000000"/>
      </a:dk1>
      <a:lt1>
        <a:srgbClr val="FFFFFF"/>
      </a:lt1>
      <a:dk2>
        <a:srgbClr val="00326E"/>
      </a:dk2>
      <a:lt2>
        <a:srgbClr val="C3D1D9"/>
      </a:lt2>
      <a:accent1>
        <a:srgbClr val="415767"/>
      </a:accent1>
      <a:accent2>
        <a:srgbClr val="FA2C6E"/>
      </a:accent2>
      <a:accent3>
        <a:srgbClr val="AA0050"/>
      </a:accent3>
      <a:accent4>
        <a:srgbClr val="0AC8FF"/>
      </a:accent4>
      <a:accent5>
        <a:srgbClr val="007FAF"/>
      </a:accent5>
      <a:accent6>
        <a:srgbClr val="FFED00"/>
      </a:accent6>
      <a:hlink>
        <a:srgbClr val="0AC8FF"/>
      </a:hlink>
      <a:folHlink>
        <a:srgbClr val="007FA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itle slide">
  <a:themeElements>
    <a:clrScheme name="UK DRI Brand Colours 2">
      <a:dk1>
        <a:srgbClr val="000000"/>
      </a:dk1>
      <a:lt1>
        <a:srgbClr val="FFFFFF"/>
      </a:lt1>
      <a:dk2>
        <a:srgbClr val="00326E"/>
      </a:dk2>
      <a:lt2>
        <a:srgbClr val="C3D1D9"/>
      </a:lt2>
      <a:accent1>
        <a:srgbClr val="415767"/>
      </a:accent1>
      <a:accent2>
        <a:srgbClr val="FA2C6E"/>
      </a:accent2>
      <a:accent3>
        <a:srgbClr val="AA0050"/>
      </a:accent3>
      <a:accent4>
        <a:srgbClr val="0AC8FF"/>
      </a:accent4>
      <a:accent5>
        <a:srgbClr val="007FAF"/>
      </a:accent5>
      <a:accent6>
        <a:srgbClr val="FFED00"/>
      </a:accent6>
      <a:hlink>
        <a:srgbClr val="0AC8FF"/>
      </a:hlink>
      <a:folHlink>
        <a:srgbClr val="007FA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End slide">
  <a:themeElements>
    <a:clrScheme name="UK DRI Brand Colours 2">
      <a:dk1>
        <a:srgbClr val="000000"/>
      </a:dk1>
      <a:lt1>
        <a:srgbClr val="FFFFFF"/>
      </a:lt1>
      <a:dk2>
        <a:srgbClr val="00326E"/>
      </a:dk2>
      <a:lt2>
        <a:srgbClr val="C3D1D9"/>
      </a:lt2>
      <a:accent1>
        <a:srgbClr val="415767"/>
      </a:accent1>
      <a:accent2>
        <a:srgbClr val="FA2C6E"/>
      </a:accent2>
      <a:accent3>
        <a:srgbClr val="AA0050"/>
      </a:accent3>
      <a:accent4>
        <a:srgbClr val="0AC8FF"/>
      </a:accent4>
      <a:accent5>
        <a:srgbClr val="007FAF"/>
      </a:accent5>
      <a:accent6>
        <a:srgbClr val="FFED00"/>
      </a:accent6>
      <a:hlink>
        <a:srgbClr val="0AC8FF"/>
      </a:hlink>
      <a:folHlink>
        <a:srgbClr val="007FA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Normal text slide">
  <a:themeElements>
    <a:clrScheme name="UK DRI Brand Colours 2">
      <a:dk1>
        <a:srgbClr val="000000"/>
      </a:dk1>
      <a:lt1>
        <a:srgbClr val="FFFFFF"/>
      </a:lt1>
      <a:dk2>
        <a:srgbClr val="00326E"/>
      </a:dk2>
      <a:lt2>
        <a:srgbClr val="C3D1D9"/>
      </a:lt2>
      <a:accent1>
        <a:srgbClr val="415767"/>
      </a:accent1>
      <a:accent2>
        <a:srgbClr val="FA2C6E"/>
      </a:accent2>
      <a:accent3>
        <a:srgbClr val="AA0050"/>
      </a:accent3>
      <a:accent4>
        <a:srgbClr val="0AC8FF"/>
      </a:accent4>
      <a:accent5>
        <a:srgbClr val="007FAF"/>
      </a:accent5>
      <a:accent6>
        <a:srgbClr val="FFED00"/>
      </a:accent6>
      <a:hlink>
        <a:srgbClr val="0AC8FF"/>
      </a:hlink>
      <a:folHlink>
        <a:srgbClr val="007FA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134923</TotalTime>
  <Words>711</Words>
  <Application>Microsoft Macintosh PowerPoint</Application>
  <PresentationFormat>Widescreen</PresentationFormat>
  <Paragraphs>86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Google Sans</vt:lpstr>
      <vt:lpstr>Title slide</vt:lpstr>
      <vt:lpstr>Normal text slide</vt:lpstr>
      <vt:lpstr>1_Title slide</vt:lpstr>
      <vt:lpstr>1_End slide</vt:lpstr>
      <vt:lpstr>1_Normal text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UKRI interval</dc:title>
  <dc:creator>Dayne Beccano</dc:creator>
  <cp:lastModifiedBy>Sandor, Cynthia A M</cp:lastModifiedBy>
  <cp:revision>295</cp:revision>
  <cp:lastPrinted>2025-07-07T08:03:50Z</cp:lastPrinted>
  <dcterms:created xsi:type="dcterms:W3CDTF">2020-06-13T10:42:50Z</dcterms:created>
  <dcterms:modified xsi:type="dcterms:W3CDTF">2025-11-21T07:33:25Z</dcterms:modified>
</cp:coreProperties>
</file>